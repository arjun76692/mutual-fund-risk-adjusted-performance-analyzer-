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564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6685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 Cap Mutual Fund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F0D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way to compare funds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0D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just returns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4572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project  ·  Jan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did I do this?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51560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2688" y="10789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02920" y="1554480"/>
            <a:ext cx="3931920" cy="658368"/>
          </a:xfrm>
          <a:prstGeom prst="rect">
            <a:avLst/>
          </a:prstGeom>
          <a:solidFill>
            <a:srgbClr val="EDE8D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554480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1627632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pick large cap funds based on recent returns — like 1-year performance.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2304288"/>
            <a:ext cx="3931920" cy="658368"/>
          </a:xfrm>
          <a:prstGeom prst="rect">
            <a:avLst/>
          </a:prstGeom>
          <a:solidFill>
            <a:srgbClr val="EDE8D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2304288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" y="2377440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high recent returns don't mean the fund is actually good long-term.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3054096"/>
            <a:ext cx="3931920" cy="658368"/>
          </a:xfrm>
          <a:prstGeom prst="rect">
            <a:avLst/>
          </a:prstGeom>
          <a:solidFill>
            <a:srgbClr val="EDE8D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3054096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60120" y="3127248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cost (expense ratio), and consistency rarely get looked at.</a:t>
            </a:r>
            <a:endParaRPr lang="en-US" sz="12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051560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76088" y="10789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wanted to do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4846320" y="1554480"/>
            <a:ext cx="3931920" cy="1371600"/>
          </a:xfrm>
          <a:prstGeom prst="rect">
            <a:avLst/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29200" y="16916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something that compares funds on what actually matters — not just the number everyone looks at first.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029200" y="2377440"/>
            <a:ext cx="1097280" cy="3200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0" name="Text 16"/>
          <p:cNvSpPr/>
          <p:nvPr/>
        </p:nvSpPr>
        <p:spPr>
          <a:xfrm>
            <a:off x="502920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0D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Returns, risk, cost, and consistency — all together.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02920" y="4206240"/>
            <a:ext cx="8138160" cy="658368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22" name="Text 18"/>
          <p:cNvSpPr/>
          <p:nvPr/>
        </p:nvSpPr>
        <p:spPr>
          <a:xfrm>
            <a:off x="685800" y="420624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1691640" y="420624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fund </a:t>
            </a: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not one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highest return. </a:t>
            </a: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with the best return for the risk </a:t>
            </a: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actually did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51560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2688" y="10789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 pulled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02920" y="1554480"/>
            <a:ext cx="1371600" cy="1188720"/>
          </a:xfrm>
          <a:prstGeom prst="rect">
            <a:avLst/>
          </a:prstGeom>
          <a:solidFill>
            <a:srgbClr val="EDE8D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600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342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94360" y="208483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cap &amp; bluechip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from mftool API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965960" y="1554480"/>
            <a:ext cx="1371600" cy="1188720"/>
          </a:xfrm>
          <a:prstGeom prst="rect">
            <a:avLst/>
          </a:prstGeom>
          <a:solidFill>
            <a:srgbClr val="EDE8D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65960" y="1600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2057400" y="208483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computed per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(see below)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429000" y="1554480"/>
            <a:ext cx="1371600" cy="1188720"/>
          </a:xfrm>
          <a:prstGeom prst="rect">
            <a:avLst/>
          </a:prstGeom>
          <a:solidFill>
            <a:srgbClr val="EDE8D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29000" y="1600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245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3520440" y="208483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with enough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to score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02920" y="29260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filtered out funds without enough NAV history to compute 3Y and 5Y returns — so every number here is based on real data, not estimates.</a:t>
            </a:r>
            <a:endParaRPr lang="en-US" sz="1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051560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76088" y="1078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I computed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4846320" y="1554480"/>
            <a:ext cx="73152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5"/>
          <p:cNvSpPr/>
          <p:nvPr/>
        </p:nvSpPr>
        <p:spPr>
          <a:xfrm>
            <a:off x="5029200" y="15544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(3Y &amp; 5Y)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5029200" y="17647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compounded returns, not marketing numbers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846320" y="2057400"/>
            <a:ext cx="73152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0" y="20574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5029200" y="22677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per unit of risk taken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4846320" y="2560320"/>
            <a:ext cx="73152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5" name="Text 21"/>
          <p:cNvSpPr/>
          <p:nvPr/>
        </p:nvSpPr>
        <p:spPr>
          <a:xfrm>
            <a:off x="5029200" y="2560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5029200" y="27706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drop from peak — how bad can it get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4846320" y="3063240"/>
            <a:ext cx="73152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0" y="30632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5029200" y="32735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the NAV swings day to day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4846320" y="3566160"/>
            <a:ext cx="73152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1" name="Text 27"/>
          <p:cNvSpPr/>
          <p:nvPr/>
        </p:nvSpPr>
        <p:spPr>
          <a:xfrm>
            <a:off x="5029200" y="35661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Up/Down Capture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5029200" y="37764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performs vs the benchmark in good &amp; bad markets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502920" y="4160520"/>
            <a:ext cx="8138160" cy="749808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34" name="Text 30"/>
          <p:cNvSpPr/>
          <p:nvPr/>
        </p:nvSpPr>
        <p:spPr>
          <a:xfrm>
            <a:off x="685800" y="416052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thought about it: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2697480" y="4160520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makes sense for which type of investor?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found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14400"/>
            <a:ext cx="2651760" cy="502920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67512" y="1508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Higher risk doesn't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 higher return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" y="23317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funds take much more risk (higher volatility) but deliver similar or even lower 5Y CAGR compared to safer funds.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67512" y="3383280"/>
            <a:ext cx="2331720" cy="914400"/>
          </a:xfrm>
          <a:prstGeom prst="rect">
            <a:avLst/>
          </a:prstGeom>
          <a:solidFill>
            <a:srgbClr val="EDE8DF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34564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smtClean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58952" y="382219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5Y CAGR across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fund categories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91440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914400"/>
            <a:ext cx="2651760" cy="502920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9144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47872" y="1508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 smtClean="0">
                <a:latin typeface="Georgia" panose="02040502050405020303" pitchFamily="18" charset="0"/>
              </a:rPr>
              <a:t>The Gap b/n different fund types and scheme types is large</a:t>
            </a:r>
            <a:endParaRPr lang="en-US" sz="1400" b="1" dirty="0">
              <a:latin typeface="Georgia" panose="020405020504050203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47872" y="23317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 smtClean="0">
                <a:solidFill>
                  <a:srgbClr val="4A5568"/>
                </a:solidFill>
                <a:ea typeface="Calibri" pitchFamily="34" charset="-122"/>
                <a:cs typeface="Calibri" pitchFamily="34" charset="-120"/>
              </a:rPr>
              <a:t>Regular Funds which belong to growth and IDCW the gap stands at 3.3%</a:t>
            </a:r>
            <a:br>
              <a:rPr lang="en-US" sz="1050" dirty="0" smtClean="0">
                <a:solidFill>
                  <a:srgbClr val="4A5568"/>
                </a:solidFill>
                <a:ea typeface="Calibri" pitchFamily="34" charset="-122"/>
                <a:cs typeface="Calibri" pitchFamily="34" charset="-120"/>
              </a:rPr>
            </a:br>
            <a:r>
              <a:rPr lang="en-US" sz="1050" dirty="0" smtClean="0">
                <a:solidFill>
                  <a:srgbClr val="4A5568"/>
                </a:solidFill>
                <a:ea typeface="Calibri" pitchFamily="34" charset="-122"/>
                <a:cs typeface="Calibri" pitchFamily="34" charset="-120"/>
              </a:rPr>
              <a:t>(15.41% vs 12.12% for Direct Funds)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547872" y="3383280"/>
            <a:ext cx="2331720" cy="914400"/>
          </a:xfrm>
          <a:prstGeom prst="rect">
            <a:avLst/>
          </a:prstGeom>
          <a:solidFill>
            <a:srgbClr val="EDE8DF"/>
          </a:solidFill>
          <a:ln/>
        </p:spPr>
      </p:sp>
      <p:sp>
        <p:nvSpPr>
          <p:cNvPr id="18" name="Text 16"/>
          <p:cNvSpPr/>
          <p:nvPr/>
        </p:nvSpPr>
        <p:spPr>
          <a:xfrm>
            <a:off x="3547872" y="34564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r>
              <a:rPr lang="en-US" sz="2000" b="1" dirty="0" smtClean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.8–1.2</a:t>
            </a:r>
            <a:r>
              <a:rPr lang="en-US" sz="20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2000" b="1" dirty="0"/>
          </a:p>
        </p:txBody>
      </p:sp>
      <p:sp>
        <p:nvSpPr>
          <p:cNvPr id="19" name="Text 17"/>
          <p:cNvSpPr/>
          <p:nvPr/>
        </p:nvSpPr>
        <p:spPr>
          <a:xfrm>
            <a:off x="3639312" y="382219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expense ratio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in large caps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63640" y="91440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914400"/>
            <a:ext cx="2651760" cy="502920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9144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28232" y="1508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Recent returns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be misleading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28232" y="23317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funds show strong 1Y numbers but drop off significantly at 3Y and 5Y. These are risky picks for long-term investors.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28232" y="3383280"/>
            <a:ext cx="2331720" cy="914400"/>
          </a:xfrm>
          <a:prstGeom prst="rect">
            <a:avLst/>
          </a:prstGeom>
          <a:solidFill>
            <a:srgbClr val="EDE8DF"/>
          </a:solidFill>
          <a:ln/>
        </p:spPr>
      </p:sp>
      <p:sp>
        <p:nvSpPr>
          <p:cNvPr id="26" name="Text 24"/>
          <p:cNvSpPr/>
          <p:nvPr/>
        </p:nvSpPr>
        <p:spPr>
          <a:xfrm>
            <a:off x="6428232" y="34564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519672" y="382219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had enough history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actually compare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Turning this into a decision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60120"/>
            <a:ext cx="2651760" cy="548640"/>
          </a:xfrm>
          <a:prstGeom prst="rect">
            <a:avLst/>
          </a:prstGeom>
          <a:solidFill>
            <a:srgbClr val="3D6B5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60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Conservative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04088" y="1792224"/>
            <a:ext cx="109728" cy="109728"/>
          </a:xfrm>
          <a:prstGeom prst="rect">
            <a:avLst/>
          </a:prstGeom>
          <a:solidFill>
            <a:srgbClr val="6B9F8E"/>
          </a:solidFill>
          <a:ln/>
        </p:spPr>
      </p:sp>
      <p:sp>
        <p:nvSpPr>
          <p:cNvPr id="8" name="Text 6"/>
          <p:cNvSpPr/>
          <p:nvPr/>
        </p:nvSpPr>
        <p:spPr>
          <a:xfrm>
            <a:off x="905256" y="16642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volatility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04088" y="2157984"/>
            <a:ext cx="109728" cy="109728"/>
          </a:xfrm>
          <a:prstGeom prst="rect">
            <a:avLst/>
          </a:prstGeom>
          <a:solidFill>
            <a:srgbClr val="6B9F8E"/>
          </a:solidFill>
          <a:ln/>
        </p:spPr>
      </p:sp>
      <p:sp>
        <p:nvSpPr>
          <p:cNvPr id="10" name="Text 8"/>
          <p:cNvSpPr/>
          <p:nvPr/>
        </p:nvSpPr>
        <p:spPr>
          <a:xfrm>
            <a:off x="905256" y="20299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long-term returns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4088" y="2523744"/>
            <a:ext cx="109728" cy="109728"/>
          </a:xfrm>
          <a:prstGeom prst="rect">
            <a:avLst/>
          </a:prstGeom>
          <a:solidFill>
            <a:srgbClr val="6B9F8E"/>
          </a:solidFill>
          <a:ln/>
        </p:spPr>
      </p:sp>
      <p:sp>
        <p:nvSpPr>
          <p:cNvPr id="12" name="Text 10"/>
          <p:cNvSpPr/>
          <p:nvPr/>
        </p:nvSpPr>
        <p:spPr>
          <a:xfrm>
            <a:off x="905256" y="23957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mind slightly lower upside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" y="2852928"/>
            <a:ext cx="2331720" cy="777240"/>
          </a:xfrm>
          <a:prstGeom prst="rect">
            <a:avLst/>
          </a:prstGeom>
          <a:solidFill>
            <a:srgbClr val="EDE8DF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852928"/>
            <a:ext cx="2331720" cy="182880"/>
          </a:xfrm>
          <a:prstGeom prst="rect">
            <a:avLst/>
          </a:prstGeom>
          <a:solidFill>
            <a:srgbClr val="6B9F8E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285292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Verdict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307238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funds tracking Nifty 50 tend to fit here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83280" y="96012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83280" y="960120"/>
            <a:ext cx="2651760" cy="548640"/>
          </a:xfrm>
          <a:prstGeom prst="rect">
            <a:avLst/>
          </a:prstGeom>
          <a:solidFill>
            <a:srgbClr val="A88530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960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84448" y="1792224"/>
            <a:ext cx="109728" cy="10972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3785616" y="16642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return for the risk taken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84448" y="2157984"/>
            <a:ext cx="109728" cy="10972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Text 21"/>
          <p:cNvSpPr/>
          <p:nvPr/>
        </p:nvSpPr>
        <p:spPr>
          <a:xfrm>
            <a:off x="3785616" y="20299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Sharpe ratio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84448" y="2523744"/>
            <a:ext cx="109728" cy="10972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5" name="Text 23"/>
          <p:cNvSpPr/>
          <p:nvPr/>
        </p:nvSpPr>
        <p:spPr>
          <a:xfrm>
            <a:off x="3785616" y="23957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Downside-protected flags pass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47872" y="2852928"/>
            <a:ext cx="2331720" cy="777240"/>
          </a:xfrm>
          <a:prstGeom prst="rect">
            <a:avLst/>
          </a:prstGeom>
          <a:solidFill>
            <a:srgbClr val="EDE8DF"/>
          </a:solidFill>
          <a:ln/>
        </p:spPr>
      </p:sp>
      <p:sp>
        <p:nvSpPr>
          <p:cNvPr id="27" name="Shape 25"/>
          <p:cNvSpPr/>
          <p:nvPr/>
        </p:nvSpPr>
        <p:spPr>
          <a:xfrm>
            <a:off x="3547872" y="2852928"/>
            <a:ext cx="2331720" cy="1828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8" name="Text 26"/>
          <p:cNvSpPr/>
          <p:nvPr/>
        </p:nvSpPr>
        <p:spPr>
          <a:xfrm>
            <a:off x="3547872" y="285292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Verdict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11880" y="307238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beats aggressive picks when risk is factored in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63640" y="96012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960120"/>
            <a:ext cx="2651760" cy="548640"/>
          </a:xfrm>
          <a:prstGeom prst="rect">
            <a:avLst/>
          </a:prstGeom>
          <a:solidFill>
            <a:srgbClr val="8E4733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960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Aggressive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64808" y="1792224"/>
            <a:ext cx="109728" cy="109728"/>
          </a:xfrm>
          <a:prstGeom prst="rect">
            <a:avLst/>
          </a:prstGeom>
          <a:solidFill>
            <a:srgbClr val="C0644A"/>
          </a:solidFill>
          <a:ln/>
        </p:spPr>
      </p:sp>
      <p:sp>
        <p:nvSpPr>
          <p:cNvPr id="34" name="Text 32"/>
          <p:cNvSpPr/>
          <p:nvPr/>
        </p:nvSpPr>
        <p:spPr>
          <a:xfrm>
            <a:off x="6665976" y="16642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return focus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64808" y="2157984"/>
            <a:ext cx="109728" cy="109728"/>
          </a:xfrm>
          <a:prstGeom prst="rect">
            <a:avLst/>
          </a:prstGeom>
          <a:solidFill>
            <a:srgbClr val="C0644A"/>
          </a:solidFill>
          <a:ln/>
        </p:spPr>
      </p:sp>
      <p:sp>
        <p:nvSpPr>
          <p:cNvPr id="36" name="Text 34"/>
          <p:cNvSpPr/>
          <p:nvPr/>
        </p:nvSpPr>
        <p:spPr>
          <a:xfrm>
            <a:off x="6665976" y="20299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more volatility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64808" y="2523744"/>
            <a:ext cx="109728" cy="109728"/>
          </a:xfrm>
          <a:prstGeom prst="rect">
            <a:avLst/>
          </a:prstGeom>
          <a:solidFill>
            <a:srgbClr val="C0644A"/>
          </a:solidFill>
          <a:ln/>
        </p:spPr>
      </p:sp>
      <p:sp>
        <p:nvSpPr>
          <p:cNvPr id="38" name="Text 36"/>
          <p:cNvSpPr/>
          <p:nvPr/>
        </p:nvSpPr>
        <p:spPr>
          <a:xfrm>
            <a:off x="6665976" y="23957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up-market capture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28232" y="2852928"/>
            <a:ext cx="2331720" cy="777240"/>
          </a:xfrm>
          <a:prstGeom prst="rect">
            <a:avLst/>
          </a:prstGeom>
          <a:solidFill>
            <a:srgbClr val="EDE8DF"/>
          </a:solidFill>
          <a:ln/>
        </p:spPr>
      </p:sp>
      <p:sp>
        <p:nvSpPr>
          <p:cNvPr id="40" name="Shape 38"/>
          <p:cNvSpPr/>
          <p:nvPr/>
        </p:nvSpPr>
        <p:spPr>
          <a:xfrm>
            <a:off x="6428232" y="2852928"/>
            <a:ext cx="2331720" cy="182880"/>
          </a:xfrm>
          <a:prstGeom prst="rect">
            <a:avLst/>
          </a:prstGeom>
          <a:solidFill>
            <a:srgbClr val="C0644A"/>
          </a:solidFill>
          <a:ln/>
        </p:spPr>
      </p:sp>
      <p:sp>
        <p:nvSpPr>
          <p:cNvPr id="41" name="Text 39"/>
          <p:cNvSpPr/>
          <p:nvPr/>
        </p:nvSpPr>
        <p:spPr>
          <a:xfrm>
            <a:off x="6428232" y="285292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Verdict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92240" y="307238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Bluechip active funds like ICICI Pru or Nippon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02920" y="4114800"/>
            <a:ext cx="8138160" cy="777240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" y="41148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learning: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148840" y="411480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funds often beat aggressive ones when you actually account for the risk. The highest return number isn't the whole story.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Funds Which are Downside Protected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51560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2688" y="10789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02920" y="1618488"/>
            <a:ext cx="6934200" cy="658368"/>
          </a:xfrm>
          <a:prstGeom prst="rect">
            <a:avLst/>
          </a:prstGeom>
          <a:solidFill>
            <a:srgbClr val="EDE8D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554480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32688" y="1764792"/>
            <a:ext cx="5074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 smtClean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6% Funds are Downside Protected in the large cap category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2304288"/>
            <a:ext cx="6934200" cy="658368"/>
          </a:xfrm>
          <a:prstGeom prst="rect">
            <a:avLst/>
          </a:prstGeom>
          <a:solidFill>
            <a:srgbClr val="EDE8D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2304288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" y="2377440"/>
            <a:ext cx="6306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 smtClean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6% </a:t>
            </a:r>
            <a:r>
              <a:rPr lang="en-US" sz="1250" dirty="0" err="1" smtClean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Transalates</a:t>
            </a:r>
            <a:r>
              <a:rPr lang="en-US" sz="1250" dirty="0" smtClean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around 20 Funds which are actually viable for Balanced Long-Term Investment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3054096"/>
            <a:ext cx="6934200" cy="658368"/>
          </a:xfrm>
          <a:prstGeom prst="rect">
            <a:avLst/>
          </a:prstGeom>
          <a:solidFill>
            <a:srgbClr val="EDE8D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3054096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60120" y="3072384"/>
            <a:ext cx="6025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 smtClean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if drilled down by </a:t>
            </a:r>
            <a:r>
              <a:rPr lang="en-US" sz="1250" dirty="0" err="1" smtClean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fund_category</a:t>
            </a:r>
            <a:r>
              <a:rPr lang="en-US" sz="1250" dirty="0" smtClean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volatility and cagr_5yrs then Only 2 Funds remain for viable Investment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5029200" y="16916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something that compares funds on what actually matters — not just the number everyone looks at first.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02920" y="4206240"/>
            <a:ext cx="8138160" cy="658368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22" name="Text 18"/>
          <p:cNvSpPr/>
          <p:nvPr/>
        </p:nvSpPr>
        <p:spPr>
          <a:xfrm>
            <a:off x="685800" y="420624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1691640" y="420624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long run when considering </a:t>
            </a:r>
            <a:r>
              <a:rPr lang="en-US" sz="13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5yrs The Balanced Funds offer better risk adjusted returns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439761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17"/>
          <p:cNvSpPr/>
          <p:nvPr/>
        </p:nvSpPr>
        <p:spPr>
          <a:xfrm>
            <a:off x="621792" y="4343400"/>
            <a:ext cx="8138160" cy="658368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ICICI vs </a:t>
            </a:r>
            <a:r>
              <a:rPr lang="en-US" sz="3000" b="1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JM </a:t>
            </a:r>
            <a:r>
              <a:rPr lang="en-US" sz="3000" b="1" smtClean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Contradiction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14400"/>
            <a:ext cx="2651760" cy="502920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19838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Finding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67512" y="1508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ICICI is better on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almost every metric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" y="23317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has higher normalized risk-reward (1.044 vs 1.026), better CAGR (17.53% vs 15.26%), and higher Sharpe (0.509 vs 0.536). It’s the superior fund on returns.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67512" y="3383280"/>
            <a:ext cx="2331720" cy="914400"/>
          </a:xfrm>
          <a:prstGeom prst="rect">
            <a:avLst/>
          </a:prstGeom>
          <a:solidFill>
            <a:srgbClr val="EDE8DF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34564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smtClean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15.243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58952" y="382219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volatility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(exceeds &lt;15 filter)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92424" y="77724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914400"/>
            <a:ext cx="2651760" cy="502920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39" y="914400"/>
            <a:ext cx="20388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Contradiction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47872" y="1508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 smtClean="0">
                <a:latin typeface="Georgia" panose="02040502050405020303" pitchFamily="18" charset="0"/>
              </a:rPr>
              <a:t>JM is the only one that clears the volatility filter</a:t>
            </a:r>
            <a:endParaRPr lang="en-US" sz="1400" b="1" dirty="0">
              <a:latin typeface="Georgia" panose="020405020504050203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47872" y="23317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 smtClean="0">
                <a:solidFill>
                  <a:srgbClr val="4A5568"/>
                </a:solidFill>
                <a:ea typeface="Calibri" pitchFamily="34" charset="-122"/>
                <a:cs typeface="Calibri" pitchFamily="34" charset="-120"/>
              </a:rPr>
              <a:t>Regular Funds which belong to growth and IDCW the gap stands at 3.3%</a:t>
            </a:r>
            <a:br>
              <a:rPr lang="en-US" sz="1050" dirty="0" smtClean="0">
                <a:solidFill>
                  <a:srgbClr val="4A5568"/>
                </a:solidFill>
                <a:ea typeface="Calibri" pitchFamily="34" charset="-122"/>
                <a:cs typeface="Calibri" pitchFamily="34" charset="-120"/>
              </a:rPr>
            </a:br>
            <a:r>
              <a:rPr lang="en-US" sz="1050" dirty="0" smtClean="0">
                <a:solidFill>
                  <a:srgbClr val="4A5568"/>
                </a:solidFill>
                <a:ea typeface="Calibri" pitchFamily="34" charset="-122"/>
                <a:cs typeface="Calibri" pitchFamily="34" charset="-120"/>
              </a:rPr>
              <a:t>JM volatility: 13.373 (passes filter). ICICI misses by just 0.243. This isn’t a flaw — it’s the finding.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547872" y="3383280"/>
            <a:ext cx="2331720" cy="914400"/>
          </a:xfrm>
          <a:prstGeom prst="rect">
            <a:avLst/>
          </a:prstGeom>
          <a:solidFill>
            <a:srgbClr val="EDE8DF"/>
          </a:solidFill>
          <a:ln/>
        </p:spPr>
      </p:sp>
      <p:sp>
        <p:nvSpPr>
          <p:cNvPr id="18" name="Text 16"/>
          <p:cNvSpPr/>
          <p:nvPr/>
        </p:nvSpPr>
        <p:spPr>
          <a:xfrm>
            <a:off x="3547872" y="34564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0.243</a:t>
            </a:r>
            <a:endParaRPr lang="en-US" sz="2000" b="1" dirty="0"/>
          </a:p>
        </p:txBody>
      </p:sp>
      <p:sp>
        <p:nvSpPr>
          <p:cNvPr id="19" name="Text 17"/>
          <p:cNvSpPr/>
          <p:nvPr/>
        </p:nvSpPr>
        <p:spPr>
          <a:xfrm>
            <a:off x="3639312" y="382219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points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(ICICI misses filter)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63640" y="77724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914400"/>
            <a:ext cx="2651760" cy="502920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799" y="914400"/>
            <a:ext cx="192156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Choice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28232" y="1508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depends on risk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tolerance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28232" y="23317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gives ~3% more annual return for ~2 points more volatility. The choice maps directly to the decision framework on Slide 5: strict on risk = JM; willing to accept slightly higher volatility for better returns = ICICI.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28232" y="3383280"/>
            <a:ext cx="2331720" cy="914400"/>
          </a:xfrm>
          <a:prstGeom prst="rect">
            <a:avLst/>
          </a:prstGeom>
          <a:solidFill>
            <a:srgbClr val="EDE8DF"/>
          </a:solidFill>
          <a:ln/>
        </p:spPr>
      </p:sp>
      <p:sp>
        <p:nvSpPr>
          <p:cNvPr id="26" name="Text 24"/>
          <p:cNvSpPr/>
          <p:nvPr/>
        </p:nvSpPr>
        <p:spPr>
          <a:xfrm>
            <a:off x="6428232" y="34564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~3%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519672" y="382219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annual return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(ICICI vs JM)</a:t>
            </a:r>
            <a:endParaRPr lang="en-US" sz="900" dirty="0"/>
          </a:p>
        </p:txBody>
      </p:sp>
      <p:sp>
        <p:nvSpPr>
          <p:cNvPr id="29" name="TextBox 28"/>
          <p:cNvSpPr txBox="1"/>
          <p:nvPr/>
        </p:nvSpPr>
        <p:spPr>
          <a:xfrm>
            <a:off x="1243385" y="4476988"/>
            <a:ext cx="6894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Out of all the funds ICICI Large Cap emerges as Winner for Long term</a:t>
            </a:r>
            <a:endParaRPr lang="en-IN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&amp; references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15568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0515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mftool (Python library)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68680" y="129844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NAV history, scheme details, and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for all 342 funds programmatically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58568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21945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India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68680" y="244144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of Mutual Funds in India —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source for fund categorisation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scheme data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0156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33375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Screener.in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868680" y="358444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manually cross-checking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fund metrics and expense ratios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115568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12080" y="1051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Investopedia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5212080" y="129844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for definitions — Sharpe ratio,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drawdown, up/down capture ratio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258568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12080" y="2194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Moneycontrol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5212080" y="244144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 few fund performance numbers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sanity-check my calculations</a:t>
            </a:r>
            <a:endParaRPr lang="en-US" sz="10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401568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212080" y="3337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numpy)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5212080" y="358444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processing, CAGR and Sharpe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 done from scratch</a:t>
            </a:r>
            <a:endParaRPr lang="en-US" sz="1050" dirty="0"/>
          </a:p>
        </p:txBody>
      </p:sp>
      <p:sp>
        <p:nvSpPr>
          <p:cNvPr id="22" name="Text 14"/>
          <p:cNvSpPr/>
          <p:nvPr/>
        </p:nvSpPr>
        <p:spPr>
          <a:xfrm>
            <a:off x="502920" y="43891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calculations (CAGR, Sharpe, drawdown, volatility, capture ratios) were done manually in Python — not pulled from any pre-computed source.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909</Words>
  <Application>Microsoft Office PowerPoint</Application>
  <PresentationFormat>On-screen Show (16:9)</PresentationFormat>
  <Paragraphs>146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Large Cap Mutual Fund Analysis</dc:title>
  <dc:subject>PptxGenJS Presentation</dc:subject>
  <dc:creator>Arjun</dc:creator>
  <cp:lastModifiedBy>Arjun</cp:lastModifiedBy>
  <cp:revision>10</cp:revision>
  <dcterms:created xsi:type="dcterms:W3CDTF">2026-02-01T04:36:29Z</dcterms:created>
  <dcterms:modified xsi:type="dcterms:W3CDTF">2026-02-01T09:38:26Z</dcterms:modified>
</cp:coreProperties>
</file>